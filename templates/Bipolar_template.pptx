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72" r:id="rId4"/>
    <p:sldId id="273" r:id="rId5"/>
    <p:sldId id="258" r:id="rId6"/>
    <p:sldId id="259" r:id="rId7"/>
    <p:sldId id="260" r:id="rId8"/>
    <p:sldId id="274" r:id="rId9"/>
    <p:sldId id="275" r:id="rId10"/>
    <p:sldId id="276" r:id="rId1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9849396-14C6-4298-AC61-C30AB62D4F1E}">
          <p14:sldIdLst>
            <p14:sldId id="256"/>
            <p14:sldId id="265"/>
            <p14:sldId id="272"/>
            <p14:sldId id="273"/>
            <p14:sldId id="258"/>
            <p14:sldId id="259"/>
            <p14:sldId id="260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7" autoAdjust="0"/>
    <p:restoredTop sz="92810" autoAdjust="0"/>
  </p:normalViewPr>
  <p:slideViewPr>
    <p:cSldViewPr snapToGrid="0">
      <p:cViewPr varScale="1">
        <p:scale>
          <a:sx n="58" d="100"/>
          <a:sy n="58" d="100"/>
        </p:scale>
        <p:origin x="326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9C8CB2-02F4-4CB3-8119-1D19F4A5527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2BD222-3B85-4A34-B266-2936FFF5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531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2BD222-3B85-4A34-B266-2936FFF5E32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2BD222-3B85-4A34-B266-2936FFF5E32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733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2BD222-3B85-4A34-B266-2936FFF5E32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144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Phae 1</a:t>
            </a:r>
            <a:br>
              <a:rPr lang="en-IN" dirty="0"/>
            </a:br>
            <a:r>
              <a:rPr lang="en-IN" dirty="0"/>
              <a:t>for individuals in </a:t>
            </a:r>
            <a:r>
              <a:rPr lang="en-US" dirty="0"/>
              <a:t>56(Only Brief (B+D))=</a:t>
            </a:r>
            <a:r>
              <a:rPr lang="en-IN" dirty="0"/>
              <a:t> </a:t>
            </a:r>
            <a:r>
              <a:rPr lang="en-US" dirty="0"/>
              <a:t>Families numbers already </a:t>
            </a:r>
            <a:r>
              <a:rPr lang="en-US" dirty="0" err="1"/>
              <a:t>inc</a:t>
            </a:r>
            <a:r>
              <a:rPr lang="en-US" dirty="0"/>
              <a:t> in Deep</a:t>
            </a:r>
            <a:br>
              <a:rPr lang="en-IN" dirty="0"/>
            </a:br>
            <a:r>
              <a:rPr lang="en-IN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2BD222-3B85-4A34-B266-2936FFF5E32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829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Deep phase 2--Includes patient recruited on 26</a:t>
            </a:r>
            <a:r>
              <a:rPr lang="en-US" baseline="30000" dirty="0"/>
              <a:t>th</a:t>
            </a:r>
            <a:r>
              <a:rPr lang="en-US" dirty="0"/>
              <a:t> but not on 30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r>
              <a:rPr lang="en-IN" dirty="0"/>
              <a:t>Phase 2 and 3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2BD222-3B85-4A34-B266-2936FFF5E32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024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2BD222-3B85-4A34-B266-2936FFF5E32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833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2BD222-3B85-4A34-B266-2936FFF5E32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409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159D3-7917-63ED-3752-FDCB0594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D7875-8C1B-4A27-6BF0-4A76BB860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06C82-3ED7-0F02-92A2-240ABFBD4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B6A9B-6489-3D05-67E4-8FB2BB4C6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2BD222-3B85-4A34-B266-2936FFF5E32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224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75EF-5BFC-FF6A-7D9A-19EA53770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A0BC1-A956-27E2-2813-5E978F844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5A420-F741-8746-CCD4-E7B206B29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3D8C-2B09-480E-B3DA-298F60AFB91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A984C-93CE-4BED-445E-071C2C04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70579-0A2F-FBBF-6329-C755F46CF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B93E5-B800-4674-811A-AE41CF822E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15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93034-14D7-3338-C097-FAC167D0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AFAE8-0046-0F87-B0BF-EA17922B6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0C449-26D7-759B-F5AB-CA6CFB9F2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3D8C-2B09-480E-B3DA-298F60AFB91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6ED9B-0CF6-900B-1491-039544E01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33209-E275-F804-88D4-9D22B0FE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B93E5-B800-4674-811A-AE41CF822E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057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7193-49CC-97D3-AF6A-AFB9C123C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820B2-EC7E-334B-8324-62D1106E1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4D703-1669-9027-C919-B0D1BE3D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3D8C-2B09-480E-B3DA-298F60AFB91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70BC2-D6E5-AA74-87DD-81578399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5B9B0-9A04-478A-763E-568F5A8B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B93E5-B800-4674-811A-AE41CF822E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49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46016-8F30-1519-3C26-4A6725E91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50B00-1AF3-ABD3-7BF4-19CF0DAF5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710F1-8ECF-72BA-39DB-1FBFE29F9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469CC-596C-C6A2-A03D-87EC94ED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3D8C-2B09-480E-B3DA-298F60AFB91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79AAF-AEA3-4AA7-4F82-E697D06D8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4143-FC6C-D21B-C95F-C6DA5F29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B93E5-B800-4674-811A-AE41CF822E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209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62A1-70FE-48B1-C0B8-B3AD68916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D2C6A-7430-83B7-B0E6-AEE72DE16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73FC3-360D-0162-D4CD-38CFA5F96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37545-5003-8CED-167A-3FE704054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DF9F1-316A-D358-EDBC-BF3C77EC9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07C595-2186-A862-FA5B-B9EF87DB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3D8C-2B09-480E-B3DA-298F60AFB91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A51FA2-F94F-8700-2AB9-850F10FA4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D2C279-779C-0996-5F72-844096A00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B93E5-B800-4674-811A-AE41CF822E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1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4710-E706-CA92-0E0F-F1E81CF8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CED806-DEB0-C83A-7965-373307022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3D8C-2B09-480E-B3DA-298F60AFB91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04A55-4641-6EE1-D5E9-8C26F1293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5242B-99A5-C3BF-5C11-490B5BC91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B93E5-B800-4674-811A-AE41CF822E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41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787CB-6B75-1446-028A-DC2281AA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3D8C-2B09-480E-B3DA-298F60AFB91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B43E2-A9B7-E60A-63B4-CA9B285DA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78245-2124-CF06-6EBE-4A0CDB4F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B93E5-B800-4674-811A-AE41CF822E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91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CA0B-E45A-6751-9229-F753FC1DD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78FA6-6FA4-BA2E-6C41-07E530E79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8DFEC-A5A5-CC3E-A6C3-E34135EE5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6EC5E-717E-3E5E-50A5-E68A0DADE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3D8C-2B09-480E-B3DA-298F60AFB91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8B003-8D67-1D86-1F08-019B24FC9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31DFE-BDC5-095A-A869-1C8325818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B93E5-B800-4674-811A-AE41CF822E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41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5EDB-473F-9B47-772C-5D4F011B5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A1D41-9EFD-6BB4-C676-895FAECDA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8E281-5180-F5E8-B3BE-F6381FE50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BA76B-786A-D65F-F354-E9BCE370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3D8C-2B09-480E-B3DA-298F60AFB91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B30CD-95C0-1D47-FB38-72E8AD722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FA740-CE53-7C24-DA37-7B325D03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B93E5-B800-4674-811A-AE41CF822E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24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1A11-CE3E-B62E-28CD-6A8A35F8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2876A-B095-FEF2-DE71-E3E8204BC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BD457-8622-972B-B63E-5AA39B0D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3D8C-2B09-480E-B3DA-298F60AFB91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3C2B0-98DE-68F9-7FBA-86BBA210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1A88A-E184-4C9C-B95B-4347E6326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B93E5-B800-4674-811A-AE41CF822E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468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D5E74-5DE2-85AE-CDC1-44D44F6D21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C9A17-77A3-6340-81B9-DE9D4F5A8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E7BF2-78DB-1AA7-B105-8DB7DC36A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3D8C-2B09-480E-B3DA-298F60AFB91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7F7EE-99B5-29B3-AE40-3BD8FC1D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382E-C940-B46E-6F08-3BCA0A33C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B93E5-B800-4674-811A-AE41CF822E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49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C70ECC-074C-884C-4425-87C850A6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46014-AE7E-0BEC-4313-1658CFB23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836F3-AF84-E1FB-D395-542750C67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EF285-FBD0-43C6-8F6D-E7D41901312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B4E06-6CBC-3061-2527-1BE910F26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2A1B-F60D-4BD5-7CFC-25B865405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D005D-7908-4530-B66F-A377E5E02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21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F9CB-D768-1C31-3D65-0CF5B873C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616" y="682388"/>
            <a:ext cx="8825658" cy="232794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BIPOLAR DISORDER COHORT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6B5517-E4A1-2169-1253-045730E7E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6195" y="3429000"/>
            <a:ext cx="8825658" cy="1672975"/>
          </a:xfrm>
        </p:spPr>
        <p:txBody>
          <a:bodyPr>
            <a:normAutofit/>
          </a:bodyPr>
          <a:lstStyle/>
          <a:p>
            <a:pPr algn="ctr"/>
            <a:endParaRPr lang="en-IN" sz="3600" dirty="0"/>
          </a:p>
          <a:p>
            <a:r>
              <a:rPr lang="en-US" sz="3200" dirty="0"/>
              <a:t> (from 24-7-26 to 30-7-26)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4619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C9126-A57D-6AC2-666B-907F6FE4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24167F-A1B4-89E7-4190-5272DC6AC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506522"/>
              </p:ext>
            </p:extLst>
          </p:nvPr>
        </p:nvGraphicFramePr>
        <p:xfrm>
          <a:off x="2101200" y="2170683"/>
          <a:ext cx="7989600" cy="3891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864">
                  <a:extLst>
                    <a:ext uri="{9D8B030D-6E8A-4147-A177-3AD203B41FA5}">
                      <a16:colId xmlns:a16="http://schemas.microsoft.com/office/drawing/2014/main" val="1684104422"/>
                    </a:ext>
                  </a:extLst>
                </a:gridCol>
                <a:gridCol w="1334934">
                  <a:extLst>
                    <a:ext uri="{9D8B030D-6E8A-4147-A177-3AD203B41FA5}">
                      <a16:colId xmlns:a16="http://schemas.microsoft.com/office/drawing/2014/main" val="834586446"/>
                    </a:ext>
                  </a:extLst>
                </a:gridCol>
                <a:gridCol w="1334934">
                  <a:extLst>
                    <a:ext uri="{9D8B030D-6E8A-4147-A177-3AD203B41FA5}">
                      <a16:colId xmlns:a16="http://schemas.microsoft.com/office/drawing/2014/main" val="165431778"/>
                    </a:ext>
                  </a:extLst>
                </a:gridCol>
                <a:gridCol w="1334934">
                  <a:extLst>
                    <a:ext uri="{9D8B030D-6E8A-4147-A177-3AD203B41FA5}">
                      <a16:colId xmlns:a16="http://schemas.microsoft.com/office/drawing/2014/main" val="129831616"/>
                    </a:ext>
                  </a:extLst>
                </a:gridCol>
                <a:gridCol w="1334934">
                  <a:extLst>
                    <a:ext uri="{9D8B030D-6E8A-4147-A177-3AD203B41FA5}">
                      <a16:colId xmlns:a16="http://schemas.microsoft.com/office/drawing/2014/main" val="1977691649"/>
                    </a:ext>
                  </a:extLst>
                </a:gridCol>
              </a:tblGrid>
              <a:tr h="304393">
                <a:tc gridSpan="5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Recruitment update (</a:t>
                      </a:r>
                      <a:r>
                        <a:rPr lang="en-US" sz="1800" dirty="0"/>
                        <a:t>24-7-26 to 30-7-26</a:t>
                      </a:r>
                      <a:r>
                        <a:rPr lang="en-US" b="1" dirty="0"/>
                        <a:t>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487432"/>
                  </a:ext>
                </a:extLst>
              </a:tr>
              <a:tr h="3652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Familial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Sporadic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577213"/>
                  </a:ext>
                </a:extLst>
              </a:tr>
              <a:tr h="3652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Families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individuals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Families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individuals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8017319"/>
                  </a:ext>
                </a:extLst>
              </a:tr>
              <a:tr h="4258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Brief (Phase 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6386735"/>
                  </a:ext>
                </a:extLst>
              </a:tr>
              <a:tr h="4258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Phase 1 Deep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303267"/>
                  </a:ext>
                </a:extLst>
              </a:tr>
              <a:tr h="4258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Phase 2 Deep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5018332"/>
                  </a:ext>
                </a:extLst>
              </a:tr>
              <a:tr h="4082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Phase 3 Deep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548909"/>
                  </a:ext>
                </a:extLst>
              </a:tr>
              <a:tr h="4082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Phase 4 Deep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536181"/>
                  </a:ext>
                </a:extLst>
              </a:tr>
              <a:tr h="4258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deep + brief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148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387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73B6C-2C5B-3AFC-27F1-4A225E32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73135-A0AF-E77D-8DD8-90D37CA98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Paste pedigree here</a:t>
            </a:r>
          </a:p>
        </p:txBody>
      </p:sp>
    </p:spTree>
    <p:extLst>
      <p:ext uri="{BB962C8B-B14F-4D97-AF65-F5344CB8AC3E}">
        <p14:creationId xmlns:p14="http://schemas.microsoft.com/office/powerpoint/2010/main" val="63034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AEE0-C7FB-57E7-5EFB-27DB114E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AADE4-6005-B1C2-FE0A-CF535201E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Paste pedigree here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265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B740-3845-D3EF-F610-6F6784337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C1A325-1A77-90F6-6371-720A83785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015347"/>
              </p:ext>
            </p:extLst>
          </p:nvPr>
        </p:nvGraphicFramePr>
        <p:xfrm>
          <a:off x="1888671" y="1900171"/>
          <a:ext cx="8414657" cy="3571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0841">
                  <a:extLst>
                    <a:ext uri="{9D8B030D-6E8A-4147-A177-3AD203B41FA5}">
                      <a16:colId xmlns:a16="http://schemas.microsoft.com/office/drawing/2014/main" val="1684104422"/>
                    </a:ext>
                  </a:extLst>
                </a:gridCol>
                <a:gridCol w="1405954">
                  <a:extLst>
                    <a:ext uri="{9D8B030D-6E8A-4147-A177-3AD203B41FA5}">
                      <a16:colId xmlns:a16="http://schemas.microsoft.com/office/drawing/2014/main" val="834586446"/>
                    </a:ext>
                  </a:extLst>
                </a:gridCol>
                <a:gridCol w="1405954">
                  <a:extLst>
                    <a:ext uri="{9D8B030D-6E8A-4147-A177-3AD203B41FA5}">
                      <a16:colId xmlns:a16="http://schemas.microsoft.com/office/drawing/2014/main" val="165431778"/>
                    </a:ext>
                  </a:extLst>
                </a:gridCol>
                <a:gridCol w="1405954">
                  <a:extLst>
                    <a:ext uri="{9D8B030D-6E8A-4147-A177-3AD203B41FA5}">
                      <a16:colId xmlns:a16="http://schemas.microsoft.com/office/drawing/2014/main" val="129831616"/>
                    </a:ext>
                  </a:extLst>
                </a:gridCol>
                <a:gridCol w="1405954">
                  <a:extLst>
                    <a:ext uri="{9D8B030D-6E8A-4147-A177-3AD203B41FA5}">
                      <a16:colId xmlns:a16="http://schemas.microsoft.com/office/drawing/2014/main" val="1977691649"/>
                    </a:ext>
                  </a:extLst>
                </a:gridCol>
              </a:tblGrid>
              <a:tr h="449228">
                <a:tc gridSpan="5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Screening update (</a:t>
                      </a:r>
                      <a:r>
                        <a:rPr lang="en-US" sz="1800" dirty="0"/>
                        <a:t>24-7-26 to 30-7-26</a:t>
                      </a:r>
                      <a:r>
                        <a:rPr lang="en-US" b="1" dirty="0"/>
                        <a:t>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487432"/>
                  </a:ext>
                </a:extLst>
              </a:tr>
              <a:tr h="449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577213"/>
                  </a:ext>
                </a:extLst>
              </a:tr>
              <a:tr h="449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Familial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Sporadic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Familial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Sporadic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8017319"/>
                  </a:ext>
                </a:extLst>
              </a:tr>
              <a:tr h="5230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Screened*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6386735"/>
                  </a:ext>
                </a:extLst>
              </a:tr>
              <a:tr h="5230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BPAD screened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303267"/>
                  </a:ext>
                </a:extLst>
              </a:tr>
              <a:tr h="5230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Eligible (BPAD)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342709"/>
                  </a:ext>
                </a:extLst>
              </a:tr>
              <a:tr h="6542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Consenting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3D87850-2792-F5FB-D65D-5EFA203F1532}"/>
              </a:ext>
            </a:extLst>
          </p:cNvPr>
          <p:cNvSpPr txBox="1"/>
          <p:nvPr/>
        </p:nvSpPr>
        <p:spPr>
          <a:xfrm>
            <a:off x="7750628" y="6346371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*all OPDs and IP</a:t>
            </a:r>
          </a:p>
        </p:txBody>
      </p:sp>
    </p:spTree>
    <p:extLst>
      <p:ext uri="{BB962C8B-B14F-4D97-AF65-F5344CB8AC3E}">
        <p14:creationId xmlns:p14="http://schemas.microsoft.com/office/powerpoint/2010/main" val="1407497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65DFA-DD2F-6E27-ACBD-C1C647806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746" y="913864"/>
            <a:ext cx="5844746" cy="630196"/>
          </a:xfrm>
        </p:spPr>
        <p:txBody>
          <a:bodyPr>
            <a:noAutofit/>
          </a:bodyPr>
          <a:lstStyle/>
          <a:p>
            <a:pPr algn="ctr"/>
            <a:r>
              <a:rPr lang="en-IN" dirty="0"/>
              <a:t>Baseline Recruitment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24167F-A1B4-89E7-4190-5272DC6AC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740580"/>
              </p:ext>
            </p:extLst>
          </p:nvPr>
        </p:nvGraphicFramePr>
        <p:xfrm>
          <a:off x="1325366" y="2696783"/>
          <a:ext cx="8635064" cy="28113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3942">
                  <a:extLst>
                    <a:ext uri="{9D8B030D-6E8A-4147-A177-3AD203B41FA5}">
                      <a16:colId xmlns:a16="http://schemas.microsoft.com/office/drawing/2014/main" val="1684104422"/>
                    </a:ext>
                  </a:extLst>
                </a:gridCol>
                <a:gridCol w="2885561">
                  <a:extLst>
                    <a:ext uri="{9D8B030D-6E8A-4147-A177-3AD203B41FA5}">
                      <a16:colId xmlns:a16="http://schemas.microsoft.com/office/drawing/2014/main" val="834586446"/>
                    </a:ext>
                  </a:extLst>
                </a:gridCol>
                <a:gridCol w="2885561">
                  <a:extLst>
                    <a:ext uri="{9D8B030D-6E8A-4147-A177-3AD203B41FA5}">
                      <a16:colId xmlns:a16="http://schemas.microsoft.com/office/drawing/2014/main" val="129831616"/>
                    </a:ext>
                  </a:extLst>
                </a:gridCol>
              </a:tblGrid>
              <a:tr h="623528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Till date</a:t>
                      </a:r>
                      <a:r>
                        <a:rPr lang="en-US" b="0" dirty="0"/>
                        <a:t> (</a:t>
                      </a:r>
                      <a:r>
                        <a:rPr lang="en-US" sz="1800" b="0" dirty="0"/>
                        <a:t>16</a:t>
                      </a:r>
                      <a:r>
                        <a:rPr lang="en-US" sz="1800" dirty="0"/>
                        <a:t>-07-2026</a:t>
                      </a:r>
                      <a:r>
                        <a:rPr lang="en-US" b="0" dirty="0"/>
                        <a:t>)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487432"/>
                  </a:ext>
                </a:extLst>
              </a:tr>
              <a:tr h="628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families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individuals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577213"/>
                  </a:ext>
                </a:extLst>
              </a:tr>
              <a:tr h="779682">
                <a:tc>
                  <a:txBody>
                    <a:bodyPr/>
                    <a:lstStyle/>
                    <a:p>
                      <a:r>
                        <a:rPr lang="en-US" dirty="0"/>
                        <a:t>Brief</a:t>
                      </a:r>
                      <a:r>
                        <a:rPr lang="en-US" baseline="0" dirty="0"/>
                        <a:t> recruited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0(Only Brief)+0(Only Brief (B+D))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26473"/>
                  </a:ext>
                </a:extLst>
              </a:tr>
              <a:tr h="779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Deep</a:t>
                      </a:r>
                      <a:r>
                        <a:rPr lang="en-US" baseline="0" dirty="0"/>
                        <a:t> recruited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303267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97365DFA-DD2F-6E27-ACBD-C1C64780674F}"/>
              </a:ext>
            </a:extLst>
          </p:cNvPr>
          <p:cNvSpPr txBox="1">
            <a:spLocks/>
          </p:cNvSpPr>
          <p:nvPr/>
        </p:nvSpPr>
        <p:spPr>
          <a:xfrm>
            <a:off x="560173" y="3402227"/>
            <a:ext cx="5844746" cy="630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550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9BA3E31-C43D-5DBC-52FB-A8BC3F0DD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Follow Up Recruitment 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347D42-4DB5-626A-564E-67BA1104C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162059"/>
              </p:ext>
            </p:extLst>
          </p:nvPr>
        </p:nvGraphicFramePr>
        <p:xfrm>
          <a:off x="1869897" y="2340572"/>
          <a:ext cx="8180031" cy="4123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3025">
                  <a:extLst>
                    <a:ext uri="{9D8B030D-6E8A-4147-A177-3AD203B41FA5}">
                      <a16:colId xmlns:a16="http://schemas.microsoft.com/office/drawing/2014/main" val="3053991601"/>
                    </a:ext>
                  </a:extLst>
                </a:gridCol>
                <a:gridCol w="2733503">
                  <a:extLst>
                    <a:ext uri="{9D8B030D-6E8A-4147-A177-3AD203B41FA5}">
                      <a16:colId xmlns:a16="http://schemas.microsoft.com/office/drawing/2014/main" val="2086619538"/>
                    </a:ext>
                  </a:extLst>
                </a:gridCol>
                <a:gridCol w="2733503">
                  <a:extLst>
                    <a:ext uri="{9D8B030D-6E8A-4147-A177-3AD203B41FA5}">
                      <a16:colId xmlns:a16="http://schemas.microsoft.com/office/drawing/2014/main" val="4249095516"/>
                    </a:ext>
                  </a:extLst>
                </a:gridCol>
              </a:tblGrid>
              <a:tr h="532584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Till 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579208"/>
                  </a:ext>
                </a:extLst>
              </a:tr>
              <a:tr h="5934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families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Number of individuals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625024"/>
                  </a:ext>
                </a:extLst>
              </a:tr>
              <a:tr h="599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Deep</a:t>
                      </a:r>
                      <a:r>
                        <a:rPr lang="en-US" baseline="0" dirty="0"/>
                        <a:t> Phase 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09656"/>
                  </a:ext>
                </a:extLst>
              </a:tr>
              <a:tr h="599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Deep Phase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745419"/>
                  </a:ext>
                </a:extLst>
              </a:tr>
              <a:tr h="599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Deep Phase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723020"/>
                  </a:ext>
                </a:extLst>
              </a:tr>
              <a:tr h="599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Due for Phase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136986"/>
                  </a:ext>
                </a:extLst>
              </a:tr>
              <a:tr h="599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Due for Phase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252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38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72F0-ECFF-70DA-E5F7-78F411CD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518" y="1137828"/>
            <a:ext cx="8761413" cy="70696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Status of Families for remaining follow up assessments 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1DA3B3C-6D13-55F0-0BAB-A09D729CD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146327"/>
              </p:ext>
            </p:extLst>
          </p:nvPr>
        </p:nvGraphicFramePr>
        <p:xfrm>
          <a:off x="388339" y="2340572"/>
          <a:ext cx="5446527" cy="37432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6419">
                  <a:extLst>
                    <a:ext uri="{9D8B030D-6E8A-4147-A177-3AD203B41FA5}">
                      <a16:colId xmlns:a16="http://schemas.microsoft.com/office/drawing/2014/main" val="3053991601"/>
                    </a:ext>
                  </a:extLst>
                </a:gridCol>
                <a:gridCol w="1820054">
                  <a:extLst>
                    <a:ext uri="{9D8B030D-6E8A-4147-A177-3AD203B41FA5}">
                      <a16:colId xmlns:a16="http://schemas.microsoft.com/office/drawing/2014/main" val="2086619538"/>
                    </a:ext>
                  </a:extLst>
                </a:gridCol>
                <a:gridCol w="1820054">
                  <a:extLst>
                    <a:ext uri="{9D8B030D-6E8A-4147-A177-3AD203B41FA5}">
                      <a16:colId xmlns:a16="http://schemas.microsoft.com/office/drawing/2014/main" val="293276580"/>
                    </a:ext>
                  </a:extLst>
                </a:gridCol>
              </a:tblGrid>
              <a:tr h="532584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Till 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579208"/>
                  </a:ext>
                </a:extLst>
              </a:tr>
              <a:tr h="5934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families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individuals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625024"/>
                  </a:ext>
                </a:extLst>
              </a:tr>
              <a:tr h="599479">
                <a:tc>
                  <a:txBody>
                    <a:bodyPr/>
                    <a:lstStyle/>
                    <a:p>
                      <a:r>
                        <a:rPr lang="en-US" dirty="0"/>
                        <a:t>Due for Phase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012322"/>
                  </a:ext>
                </a:extLst>
              </a:tr>
              <a:tr h="599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 yet due for F/U Phase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09656"/>
                  </a:ext>
                </a:extLst>
              </a:tr>
              <a:tr h="2997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deep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156426"/>
                  </a:ext>
                </a:extLst>
              </a:tr>
              <a:tr h="29974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brief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828377"/>
                  </a:ext>
                </a:extLst>
              </a:tr>
              <a:tr h="599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7454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B77D1D-F84F-0075-3459-917B43CAE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966115"/>
              </p:ext>
            </p:extLst>
          </p:nvPr>
        </p:nvGraphicFramePr>
        <p:xfrm>
          <a:off x="6357136" y="2340572"/>
          <a:ext cx="5446527" cy="36111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6419">
                  <a:extLst>
                    <a:ext uri="{9D8B030D-6E8A-4147-A177-3AD203B41FA5}">
                      <a16:colId xmlns:a16="http://schemas.microsoft.com/office/drawing/2014/main" val="3053991601"/>
                    </a:ext>
                  </a:extLst>
                </a:gridCol>
                <a:gridCol w="1820054">
                  <a:extLst>
                    <a:ext uri="{9D8B030D-6E8A-4147-A177-3AD203B41FA5}">
                      <a16:colId xmlns:a16="http://schemas.microsoft.com/office/drawing/2014/main" val="2086619538"/>
                    </a:ext>
                  </a:extLst>
                </a:gridCol>
                <a:gridCol w="1820054">
                  <a:extLst>
                    <a:ext uri="{9D8B030D-6E8A-4147-A177-3AD203B41FA5}">
                      <a16:colId xmlns:a16="http://schemas.microsoft.com/office/drawing/2014/main" val="293276580"/>
                    </a:ext>
                  </a:extLst>
                </a:gridCol>
              </a:tblGrid>
              <a:tr h="532584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Till 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579208"/>
                  </a:ext>
                </a:extLst>
              </a:tr>
              <a:tr h="5934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families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individuals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625024"/>
                  </a:ext>
                </a:extLst>
              </a:tr>
              <a:tr h="599479">
                <a:tc>
                  <a:txBody>
                    <a:bodyPr/>
                    <a:lstStyle/>
                    <a:p>
                      <a:r>
                        <a:rPr lang="en-US" dirty="0"/>
                        <a:t>Due for Phase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012322"/>
                  </a:ext>
                </a:extLst>
              </a:tr>
              <a:tr h="599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 yet due for F/U Phase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09656"/>
                  </a:ext>
                </a:extLst>
              </a:tr>
              <a:tr h="599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079012"/>
                  </a:ext>
                </a:extLst>
              </a:tr>
              <a:tr h="599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745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713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EB475-26BB-320D-AB67-25E82AD1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Details of Phase 2 assessments due till now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504FCD-7768-00CF-FAC9-BFFF0AF95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733472"/>
              </p:ext>
            </p:extLst>
          </p:nvPr>
        </p:nvGraphicFramePr>
        <p:xfrm>
          <a:off x="1913440" y="1458830"/>
          <a:ext cx="4865076" cy="47806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3392">
                  <a:extLst>
                    <a:ext uri="{9D8B030D-6E8A-4147-A177-3AD203B41FA5}">
                      <a16:colId xmlns:a16="http://schemas.microsoft.com/office/drawing/2014/main" val="3053991601"/>
                    </a:ext>
                  </a:extLst>
                </a:gridCol>
                <a:gridCol w="2441684">
                  <a:extLst>
                    <a:ext uri="{9D8B030D-6E8A-4147-A177-3AD203B41FA5}">
                      <a16:colId xmlns:a16="http://schemas.microsoft.com/office/drawing/2014/main" val="2086619538"/>
                    </a:ext>
                  </a:extLst>
                </a:gridCol>
              </a:tblGrid>
              <a:tr h="458453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Till 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579208"/>
                  </a:ext>
                </a:extLst>
              </a:tr>
              <a:tr h="5509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</a:t>
                      </a:r>
                      <a:r>
                        <a:rPr lang="en-US"/>
                        <a:t>of individuals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625024"/>
                  </a:ext>
                </a:extLst>
              </a:tr>
              <a:tr h="5509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Contacted and willing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09656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Unwilling/ withdrew consent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3971838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Unable to contact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681412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 answering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6100525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Other reasons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0342933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Yet to contact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9046859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000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02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F986291-2656-B10C-3609-32E04A7CF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26B42-BA7D-5DE1-29FF-7D7D88CD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Details </a:t>
            </a:r>
            <a:r>
              <a:rPr lang="en-IN"/>
              <a:t>of Phase 3  </a:t>
            </a:r>
            <a:r>
              <a:rPr lang="en-IN" dirty="0"/>
              <a:t>assessments due till now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9B5F8D-D759-51E4-7734-0A9F92934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9194"/>
              </p:ext>
            </p:extLst>
          </p:nvPr>
        </p:nvGraphicFramePr>
        <p:xfrm>
          <a:off x="1913440" y="1458830"/>
          <a:ext cx="4865076" cy="47806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3392">
                  <a:extLst>
                    <a:ext uri="{9D8B030D-6E8A-4147-A177-3AD203B41FA5}">
                      <a16:colId xmlns:a16="http://schemas.microsoft.com/office/drawing/2014/main" val="3053991601"/>
                    </a:ext>
                  </a:extLst>
                </a:gridCol>
                <a:gridCol w="2441684">
                  <a:extLst>
                    <a:ext uri="{9D8B030D-6E8A-4147-A177-3AD203B41FA5}">
                      <a16:colId xmlns:a16="http://schemas.microsoft.com/office/drawing/2014/main" val="2086619538"/>
                    </a:ext>
                  </a:extLst>
                </a:gridCol>
              </a:tblGrid>
              <a:tr h="458453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Till 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579208"/>
                  </a:ext>
                </a:extLst>
              </a:tr>
              <a:tr h="5509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</a:t>
                      </a:r>
                      <a:r>
                        <a:rPr lang="en-US"/>
                        <a:t>of individuals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625024"/>
                  </a:ext>
                </a:extLst>
              </a:tr>
              <a:tr h="5509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Contacted and willing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09656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Unwilling/ withdrew consent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3971838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Unable to contact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120416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 answering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6100525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Other reasons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0342933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Yet to contact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505651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000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796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11303</TotalTime>
  <Words>398</Words>
  <Application>Microsoft Office PowerPoint</Application>
  <PresentationFormat>Widescreen</PresentationFormat>
  <Paragraphs>169</Paragraphs>
  <Slides>10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   BIPOLAR DISORDER COHORT </vt:lpstr>
      <vt:lpstr>PowerPoint Presentation</vt:lpstr>
      <vt:lpstr>PowerPoint Presentation</vt:lpstr>
      <vt:lpstr>PowerPoint Presentation</vt:lpstr>
      <vt:lpstr>Screening</vt:lpstr>
      <vt:lpstr>Baseline Recruitment </vt:lpstr>
      <vt:lpstr>Follow Up Recruitment  </vt:lpstr>
      <vt:lpstr>Status of Families for remaining follow up assessments  </vt:lpstr>
      <vt:lpstr>Details of Phase 2 assessments due till now</vt:lpstr>
      <vt:lpstr>Details of Phase 3  assessments due till 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BIPOLAR DISORDER COHORT </dc:title>
  <dc:creator>CRC lap3</dc:creator>
  <cp:lastModifiedBy>a25622</cp:lastModifiedBy>
  <cp:revision>665</cp:revision>
  <dcterms:modified xsi:type="dcterms:W3CDTF">2026-07-30T19:08:55Z</dcterms:modified>
</cp:coreProperties>
</file>